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7" r:id="rId4"/>
    <p:sldId id="258" r:id="rId5"/>
    <p:sldId id="260" r:id="rId6"/>
    <p:sldId id="261" r:id="rId7"/>
    <p:sldId id="272" r:id="rId8"/>
    <p:sldId id="262" r:id="rId9"/>
    <p:sldId id="25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2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1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79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0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2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6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26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5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7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56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3E8C2-7631-4680-95FC-0E096ECFBC0D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B1A42-28F6-4455-BC43-9CC1205000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KNN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@Machine Learning</a:t>
            </a:r>
          </a:p>
          <a:p>
            <a:r>
              <a:rPr lang="en-US" dirty="0"/>
              <a:t>#Data Science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05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37" y="670034"/>
            <a:ext cx="4813737" cy="5559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9350"/>
            <a:ext cx="45720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38200"/>
            <a:ext cx="44196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4800" y="152400"/>
            <a:ext cx="868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</a:t>
            </a:r>
            <a:r>
              <a:rPr lang="en-US" dirty="0"/>
              <a:t>			       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Regression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471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KNN Algorithm is one of the simplest but strong supervised Machine Learning algorithm. </a:t>
            </a:r>
          </a:p>
          <a:p>
            <a:pPr algn="just"/>
            <a:r>
              <a:rPr lang="en-US" dirty="0"/>
              <a:t>KNN can  be used for both classification and regression problems.</a:t>
            </a:r>
          </a:p>
          <a:p>
            <a:pPr algn="just"/>
            <a:r>
              <a:rPr lang="en-US" dirty="0"/>
              <a:t>The output depends on whether you use the KNN algorithm for classification or regression.</a:t>
            </a:r>
          </a:p>
          <a:p>
            <a:pPr algn="just"/>
            <a:r>
              <a:rPr lang="en-US" dirty="0"/>
              <a:t>It collects data from a training data set, and uses this data later to make predictions for new records.</a:t>
            </a:r>
          </a:p>
          <a:p>
            <a:pPr algn="just"/>
            <a:r>
              <a:rPr lang="en-US" dirty="0"/>
              <a:t>For each new record, the k-closest records of the training data set are determined. </a:t>
            </a:r>
          </a:p>
          <a:p>
            <a:pPr algn="just"/>
            <a:r>
              <a:rPr lang="en-US" dirty="0"/>
              <a:t>Based on the value of the target attribute of the closest records, a prediction is made for the new record.</a:t>
            </a:r>
          </a:p>
          <a:p>
            <a:pPr algn="just"/>
            <a:r>
              <a:rPr lang="en-US" dirty="0"/>
              <a:t>The KNN algorithm uses ‘feature similarity’ to predict the values of any new data points. </a:t>
            </a:r>
          </a:p>
          <a:p>
            <a:r>
              <a:rPr lang="en-US" dirty="0"/>
              <a:t>This means that the new point is assigned a value based on how closely it resembles the points in the training set.</a:t>
            </a:r>
          </a:p>
        </p:txBody>
      </p:sp>
    </p:spTree>
    <p:extLst>
      <p:ext uri="{BB962C8B-B14F-4D97-AF65-F5344CB8AC3E}">
        <p14:creationId xmlns:p14="http://schemas.microsoft.com/office/powerpoint/2010/main" val="205725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KNN For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/>
          <a:lstStyle/>
          <a:p>
            <a:r>
              <a:rPr lang="en-US" dirty="0"/>
              <a:t>KNN algorithm for classification uses a “Majority Voting” mechanism. </a:t>
            </a:r>
          </a:p>
          <a:p>
            <a:pPr algn="just"/>
            <a:r>
              <a:rPr lang="en-US" dirty="0"/>
              <a:t>The predicted class label is determined by the voting for the nearest neighbors, that is, the majority class label in the set of the selected k instances is returned.</a:t>
            </a:r>
          </a:p>
          <a:p>
            <a:pPr marL="0" indent="0" algn="just">
              <a:buNone/>
            </a:pPr>
            <a:r>
              <a:rPr lang="en-US" dirty="0"/>
              <a:t>                              KNN For Regression</a:t>
            </a:r>
          </a:p>
          <a:p>
            <a:r>
              <a:rPr lang="en-US" dirty="0"/>
              <a:t>In KNN regression, the average value of the target function values of the nearest neighbors is returned as the predicted value.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12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Anatomy of k-Nearest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/>
          <a:lstStyle/>
          <a:p>
            <a:r>
              <a:rPr lang="en-US" dirty="0"/>
              <a:t>k in </a:t>
            </a:r>
            <a:r>
              <a:rPr lang="en-US" dirty="0" err="1"/>
              <a:t>kNN</a:t>
            </a:r>
            <a:r>
              <a:rPr lang="en-US" dirty="0"/>
              <a:t> is a parameter that refers to the number of Nearest Neighbors to include in the majority voting process(Classification)or average(Regression).</a:t>
            </a:r>
          </a:p>
          <a:p>
            <a:r>
              <a:rPr lang="en-US" dirty="0"/>
              <a:t>For instance ,in classification if k=7 the data point is classified by majority votes from its 7 nearest neighbors.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657600"/>
            <a:ext cx="461962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0426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Choosing 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As we know </a:t>
            </a:r>
            <a:r>
              <a:rPr lang="en-US" dirty="0" err="1"/>
              <a:t>kNN</a:t>
            </a:r>
            <a:r>
              <a:rPr lang="en-US" dirty="0"/>
              <a:t> is based of feature similarity, choosing the right k value is a process called parameter tuning, which is very important for best accuracy</a:t>
            </a:r>
          </a:p>
          <a:p>
            <a:pPr marL="0" indent="0" algn="just">
              <a:buNone/>
            </a:pPr>
            <a:r>
              <a:rPr lang="en-US" dirty="0"/>
              <a:t>    -------------What if k is Too High or Too Low------------</a:t>
            </a:r>
          </a:p>
          <a:p>
            <a:pPr marL="0" indent="0">
              <a:buNone/>
            </a:pPr>
            <a:r>
              <a:rPr lang="en-US" dirty="0"/>
              <a:t>For a very low value of k (suppose k=1), the model </a:t>
            </a:r>
            <a:r>
              <a:rPr lang="en-US" dirty="0" err="1"/>
              <a:t>overfits</a:t>
            </a:r>
            <a:r>
              <a:rPr lang="en-US" dirty="0"/>
              <a:t> on the training data, which leads to a high error rate on the validation set. </a:t>
            </a:r>
          </a:p>
          <a:p>
            <a:pPr marL="0" indent="0">
              <a:buNone/>
            </a:pPr>
            <a:r>
              <a:rPr lang="en-US" dirty="0"/>
              <a:t>On the other hand, for a high value of k, the model performs poorly on both train and validation set. (</a:t>
            </a:r>
            <a:r>
              <a:rPr lang="en-US" dirty="0" err="1"/>
              <a:t>Underfitting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404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Right k value selection</a:t>
            </a:r>
          </a:p>
          <a:p>
            <a:pPr algn="just"/>
            <a:r>
              <a:rPr lang="en-US" dirty="0"/>
              <a:t>Use </a:t>
            </a:r>
            <a:r>
              <a:rPr lang="en-US" dirty="0" err="1"/>
              <a:t>sqrt</a:t>
            </a:r>
            <a:r>
              <a:rPr lang="en-US" dirty="0"/>
              <a:t>(n) ;n -&gt; total number of data points.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Odd value should be selected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We can use Cross-validation techniques for choosing right 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679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When to Use k-NN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When Data is </a:t>
            </a:r>
            <a:r>
              <a:rPr lang="en-US" dirty="0" err="1"/>
              <a:t>labelled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 </a:t>
            </a:r>
            <a:r>
              <a:rPr lang="en-US" dirty="0" err="1"/>
              <a:t>DataSet</a:t>
            </a:r>
            <a:r>
              <a:rPr lang="en-US" dirty="0"/>
              <a:t> is small, since </a:t>
            </a:r>
            <a:r>
              <a:rPr lang="en-US" dirty="0" err="1"/>
              <a:t>kNN</a:t>
            </a:r>
            <a:r>
              <a:rPr lang="en-US" dirty="0"/>
              <a:t> is said to be a Lazy Learner.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 Data is Noise free i.e., too many labels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555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883"/>
            <a:ext cx="7877175" cy="754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685800"/>
            <a:ext cx="6019801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181600"/>
            <a:ext cx="7924800" cy="58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770563"/>
            <a:ext cx="53943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232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/>
              <a:t>Math Behind k-NN</a:t>
            </a:r>
          </a:p>
        </p:txBody>
      </p:sp>
      <p:pic>
        <p:nvPicPr>
          <p:cNvPr id="4101" name="Picture 5" descr="KNN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76123"/>
            <a:ext cx="5943600" cy="470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172200" y="3244334"/>
            <a:ext cx="251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(for continuous) </a:t>
            </a:r>
          </a:p>
        </p:txBody>
      </p:sp>
    </p:spTree>
    <p:extLst>
      <p:ext uri="{BB962C8B-B14F-4D97-AF65-F5344CB8AC3E}">
        <p14:creationId xmlns:p14="http://schemas.microsoft.com/office/powerpoint/2010/main" val="3899363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" y="0"/>
            <a:ext cx="91154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9144000" cy="3428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0699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95601"/>
            <a:ext cx="9144000" cy="3951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6378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47"/>
            <a:ext cx="9144000" cy="5826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49937"/>
            <a:ext cx="9144000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1096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k-NN Algorithm for Regression</a:t>
            </a:r>
            <a:br>
              <a:rPr lang="en-US" dirty="0"/>
            </a:b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80010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29001"/>
            <a:ext cx="81534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757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1. First, the distance between the new point and each training point is calculated.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83058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0171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2. The closest k data points are selected (based on the distance). </a:t>
            </a:r>
          </a:p>
          <a:p>
            <a:pPr marL="0" lvl="0" indent="0">
              <a:buNone/>
            </a:pPr>
            <a:r>
              <a:rPr lang="en-US" dirty="0"/>
              <a:t>In this example, points 1, 5, 6 will be selected if the value of k is 3.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30425"/>
            <a:ext cx="8763000" cy="35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19600" y="5715001"/>
            <a:ext cx="472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average of these data points is the final prediction for the new point. </a:t>
            </a:r>
          </a:p>
          <a:p>
            <a:r>
              <a:rPr lang="en-US" b="1" dirty="0"/>
              <a:t>Here, we have weight of ID11 =</a:t>
            </a:r>
          </a:p>
          <a:p>
            <a:r>
              <a:rPr lang="en-US" b="1" dirty="0"/>
              <a:t> (77+72+60)/3 = 69.66 kg.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" y="5722090"/>
            <a:ext cx="4416972" cy="1135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4657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s://cdn.analyticsvidhya.com/wp-content/uploads/2018/08/Screenshot-from-2018-08-22-12-50-16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39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9336"/>
            <a:ext cx="4572000" cy="151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0" y="535851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prediction for ID11 will be :</a:t>
            </a:r>
          </a:p>
          <a:p>
            <a:pPr latinLnBrk="1"/>
            <a:r>
              <a:rPr lang="en-US" dirty="0"/>
              <a:t>ID 11 =  (77+59+72+60+58)/5 </a:t>
            </a:r>
          </a:p>
          <a:p>
            <a:pPr latinLnBrk="1"/>
            <a:r>
              <a:rPr lang="en-US" dirty="0"/>
              <a:t>ID 11 = 65.2 kg</a:t>
            </a:r>
          </a:p>
        </p:txBody>
      </p:sp>
    </p:spTree>
    <p:extLst>
      <p:ext uri="{BB962C8B-B14F-4D97-AF65-F5344CB8AC3E}">
        <p14:creationId xmlns:p14="http://schemas.microsoft.com/office/powerpoint/2010/main" val="2594311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s://www.analyticsvidhya.com/wp-content/uploads/2014/10/training-error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283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91440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-5255" y="2838271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you observe closely, the validation error curve reaches a minima at a value of k = 9. This value of k is the optimum value of the model (it will vary for different datasets). </a:t>
            </a:r>
          </a:p>
          <a:p>
            <a:r>
              <a:rPr lang="en-US" dirty="0"/>
              <a:t>This curve is known as an ‘elbow curve‘ (because it has a shape like an elbow) and is usually used to determine the k value.</a:t>
            </a:r>
          </a:p>
        </p:txBody>
      </p:sp>
    </p:spTree>
    <p:extLst>
      <p:ext uri="{BB962C8B-B14F-4D97-AF65-F5344CB8AC3E}">
        <p14:creationId xmlns:p14="http://schemas.microsoft.com/office/powerpoint/2010/main" val="3854280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4259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dirty="0"/>
              <a:t>O - Obtaining our data</a:t>
            </a:r>
          </a:p>
          <a:p>
            <a:r>
              <a:rPr lang="en-US" dirty="0"/>
              <a:t>S - Scrubbing / Cleaning our data</a:t>
            </a:r>
          </a:p>
          <a:p>
            <a:r>
              <a:rPr lang="en-US" dirty="0"/>
              <a:t>E - Exploring / Visualizing our data will allow us to find patterns and trends</a:t>
            </a:r>
          </a:p>
          <a:p>
            <a:r>
              <a:rPr lang="en-US" dirty="0"/>
              <a:t>M - Modeling our data will give us our predictive power as a wizard</a:t>
            </a:r>
          </a:p>
          <a:p>
            <a:r>
              <a:rPr lang="en-US" dirty="0"/>
              <a:t>N - </a:t>
            </a:r>
            <a:r>
              <a:rPr lang="en-US" dirty="0" err="1"/>
              <a:t>INterpreting</a:t>
            </a:r>
            <a:r>
              <a:rPr lang="en-US" dirty="0"/>
              <a:t> our data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9263</TotalTime>
  <Words>687</Words>
  <Application>Microsoft Office PowerPoint</Application>
  <PresentationFormat>On-screen Show (4:3)</PresentationFormat>
  <Paragraphs>58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KNN Algorithm</vt:lpstr>
      <vt:lpstr>PowerPoint Presentation</vt:lpstr>
      <vt:lpstr>PowerPoint Presentation</vt:lpstr>
      <vt:lpstr>KNN For Classification</vt:lpstr>
      <vt:lpstr>Anatomy of k-Nearest Neighbors</vt:lpstr>
      <vt:lpstr>Choosing k</vt:lpstr>
      <vt:lpstr>PowerPoint Presentation</vt:lpstr>
      <vt:lpstr>When to Use k-NN</vt:lpstr>
      <vt:lpstr>PowerPoint Presentation</vt:lpstr>
      <vt:lpstr>Math Behind k-NN</vt:lpstr>
      <vt:lpstr>PowerPoint Presentation</vt:lpstr>
      <vt:lpstr>PowerPoint Presentation</vt:lpstr>
      <vt:lpstr>PowerPoint Presentation</vt:lpstr>
      <vt:lpstr>k-NN Algorithm for Regression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KNN Algorithm</dc:title>
  <dc:creator>RAIN</dc:creator>
  <cp:lastModifiedBy>Veerendra Nath</cp:lastModifiedBy>
  <cp:revision>35</cp:revision>
  <dcterms:created xsi:type="dcterms:W3CDTF">2020-06-03T13:42:53Z</dcterms:created>
  <dcterms:modified xsi:type="dcterms:W3CDTF">2025-05-06T15:31:51Z</dcterms:modified>
</cp:coreProperties>
</file>